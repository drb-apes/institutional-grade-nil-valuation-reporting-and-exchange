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the JP Morgan BLEI-E Risk Engine blueprint. Grounded in source files 'Interest Developer Architecture' and 'BLEI-E Risk Framework'.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Detailing the 6 structural layers of Interest Developer.jpm. Sources: Passage 2, Passage 6, Passage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Detailing the L1-L6 Risk Fabric. Source: Passage 11 (BLEI-E Risk Framework).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trade methods 1 through 14 across Sponsor, Media, and Betting asset classes. Source: Passages 12-14.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trade methods 15 through 24 across Franchise, Physiological, and CRS risk overlays. Source: Passages 15-16.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Detailing the 4 standardized portfolio construction models. Source: Passage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Detailing pod roles, workflow stages, and econometric sign-off. Source: Passage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J.P. MORGAN HEDGE DESK &amp; QUANT R&amp;D</a:t>
            </a:r>
          </a:p>
          <a:p>
            <a:pPr>
              <a:spcAft>
                <a:spcPts val="1400"/>
              </a:spcAft>
              <a:defRPr sz="3600" b="1">
                <a:solidFill>
                  <a:srgbClr val="003366"/>
                </a:solidFill>
                <a:latin typeface="Georgia"/>
              </a:defRPr>
            </a:pPr>
            <a:r>
              <a:t>BLEI-E Risk Engine &amp; Interest Developer.jpm</a:t>
            </a:r>
          </a:p>
          <a:p>
            <a:pPr>
              <a:defRPr sz="1600">
                <a:solidFill>
                  <a:srgbClr val="334155"/>
                </a:solidFill>
                <a:latin typeface="Arial"/>
              </a:defRPr>
            </a:pPr>
            <a:r>
              <a:t>Institutional Specification for Biometric Signal Intake, Cross-Asset Risk Overlays, and 24 Canonical Trade Execution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303520"/>
            <a:ext cx="10058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  <a:latin typeface="Arial"/>
              </a:defRPr>
            </a:pPr>
            <a:r>
              <a:t>Doc ID: JPM-BLEIE-SPEC-2026   |   Effective: Sept 13, 2026   |   Target Desks: PMs, Risk Officers, Quant R&amp;D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J.P. MORGAN HEDGE DESK &amp; QUANT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Georgia"/>
              </a:defRPr>
            </a:pPr>
            <a:r>
              <a:t>Six Core Architecture Layers Bridge Biometric Factors to Hedge Desk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Interest Developer.jpm — BLEI-E Risk Management Framework  |  Slide 2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1. Signal Intake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Ingests biometric, virality, and market data via read-only APIs (/api/factors/blei-e).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2. Interest Registry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Logs ideas into standardized interest_ticket objects (PERF, SPONSOR, RISK).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3. R&amp;D Pipeline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Executes hypothesis testing, backtesting, tail-risk reviews, and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4. Hedge Desk Catalog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Registers candidate_strategy objects with defined risk and capacity limits.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5. Governance Controls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Enforces strict R&amp;D/Production separation, WORM audit logs, and approval sign-offs.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3931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6. Feedback Loop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Monitors live P&amp;L vs backtest in Weekly Reviews to identify edge decay.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J.P. MORGAN HEDGE DESK &amp; QUANT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Georgia"/>
              </a:defRPr>
            </a:pPr>
            <a:r>
              <a:t>Six-Layer Risk Fabric Translates Biometric Factors into Dynamic Equity Overlays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Interest Developer.jpm — BLEI-E Risk Management Framework  |  Slide 3 of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150815"/>
                <a:gridCol w="3200400"/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Fabric Layer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Operational Function &amp; Processing Logic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Institutional Output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3366"/>
                          </a:solidFill>
                          <a:latin typeface="Arial"/>
                        </a:defRPr>
                      </a:pPr>
                      <a:r>
                        <a:t>L1 — Signal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Ingests biometric, virality, and market data with physiological range validation.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Raw API Layer (/api/factors/blei-e)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3366"/>
                          </a:solidFill>
                          <a:latin typeface="Arial"/>
                        </a:defRPr>
                      </a:pPr>
                      <a:r>
                        <a:t>L2 — Factor Normalization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Transforms Z-scores, percentile ranks, and vol scaling across 5 factor deltas.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PMF-E, SEF-E, VVE-E, FBR-E, CSE-E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3366"/>
                          </a:solidFill>
                          <a:latin typeface="Arial"/>
                        </a:defRPr>
                      </a:pPr>
                      <a:r>
                        <a:t>L3 — Cross-Asset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OLS beta estimation utilizing Newey-West HAC robust standard errors.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Removes Autocorrelation &amp; Heteroskedasticity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3366"/>
                          </a:solidFill>
                          <a:latin typeface="Arial"/>
                        </a:defRPr>
                      </a:pPr>
                      <a:r>
                        <a:t>L4 — CRS Risk-State Engine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Unified 0–4 risk scoring engine determining systemic risk regimes.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Triggers Quantitative Overlays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3366"/>
                          </a:solidFill>
                          <a:latin typeface="Arial"/>
                        </a:defRPr>
                      </a:pPr>
                      <a:r>
                        <a:t>L5 — Overlay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Generates targeted equity hedges across sponsor, media, betting, and franchise assets.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Multi-Asset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3366"/>
                          </a:solidFill>
                          <a:latin typeface="Arial"/>
                        </a:defRPr>
                      </a:pPr>
                      <a:r>
                        <a:t>L6 — Governance &amp; Audit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Enforces WORM audit logging, HIPAA/GDPR privacy, RBAC, and factor lineage.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SEC Alt-Data Compliance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J.P. MORGAN HEDGE DESK &amp; QUANT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Georgia"/>
              </a:defRPr>
            </a:pPr>
            <a:r>
              <a:t>24 Canonical Trade Execution Methods Monetize Biometric and Media Discrepancies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Interest Developer.jpm — BLEI-E Risk Management Framework  |  Slide 4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03366"/>
                </a:solidFill>
                <a:latin typeface="Arial"/>
              </a:defRPr>
            </a:pPr>
            <a:r>
              <a:t>Sponsor Equity Methods (SEF-E)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1. Long Momentum: Athlete signal gains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2. Short Contagion: Reputational leak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3. Dispersion Trade: Index vs sponsor vol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4. Options Overlay: Tail-risk put hedging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5. Cross-Sponsor Pair: Long/short spread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03366"/>
                </a:solidFill>
                <a:latin typeface="Arial"/>
              </a:defRPr>
            </a:pPr>
            <a:r>
              <a:t>Media Equity Methods (VVE-E)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6. Viral Momentum Long: Media velocity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7. Volatility Straddle: Catalyst price moves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8. Media Drift Capture: Post-viral drift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9. Cross-Media Spread: Platform engagement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10. Event Gamma Trade: Short-dated gamma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03366"/>
                </a:solidFill>
                <a:latin typeface="Arial"/>
              </a:defRPr>
            </a:pPr>
            <a:r>
              <a:t>Betting Platform Methods (CSE-E)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11. Volatility Expansion: Pre-event long-vol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12. Volatility Crush: Post-resolution short-vol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13. Stress-Event Straddle: Tail risk positions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14. Cross-Platform Arbitrage: Operator spread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J.P. MORGAN HEDGE DESK &amp; QUANT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Georgia"/>
              </a:defRPr>
            </a:pPr>
            <a:r>
              <a:t>Franchise, Physiological, and CRS Overlays Protect Capital During Regime Shocks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Interest Developer.jpm — BLEI-E Risk Management Framework  |  Slide 5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03366"/>
                </a:solidFill>
                <a:latin typeface="Arial"/>
              </a:defRPr>
            </a:pPr>
            <a:r>
              <a:t>Franchise Equity Methods (FBR-E)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15. Franchise Momentum Long: Trajectory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16. Drawdown Hedge: Off-season protection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17. Playoff Cycle Overlay: Seasonal drift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18. Cross-Franchise Spread: Team 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03366"/>
                </a:solidFill>
                <a:latin typeface="Arial"/>
              </a:defRPr>
            </a:pPr>
            <a:r>
              <a:t>Physiological Market Methods (PMF-E)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19. Factor Long/Short: Quintile portfolio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20. Beta-Weighted Basket: Biometric weight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21. Physiological Drift: Trend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CRS Risk-State Overlays (0–4)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22. CRS State-3 Hedge: Partial defensive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23. CRS State-4 Emergency: Max de-risking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24. CRS Shock Basket: Cross-asset hedge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J.P. MORGAN HEDGE DESK &amp; QUANT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Georgia"/>
              </a:defRPr>
            </a:pPr>
            <a:r>
              <a:t>Four Portfolio Models Enforce Strict Market Neutrality and Volatility Harvest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Interest Developer.jpm — BLEI-E Risk Management Framework  |  Slide 6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8099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BLEI-E Market-Neutral Portfolio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Quintile-based long/short factor portfolio (long top quintile, short bottom quintile) maintaining strict market neutrality and beta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645920"/>
            <a:ext cx="518099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BLEI-E Multi-Asset Overlay Portfolio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Integrated multi-asset basket dynamically hedging sponsor, media, betting platform, and franchise equities based on cross-asset OLS betas.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8099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BLEI-E Volatility Portfolio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Combines CSE-E and VVE-E signals into long-volatility, straddle, and dispersion structures to systematically capture volatility expansion.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3931920"/>
            <a:ext cx="518099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3366"/>
                </a:solidFill>
                <a:latin typeface="Arial"/>
              </a:defRPr>
            </a:pPr>
            <a:r>
              <a:t>BLEI-E Franchise Momentum Portfolio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Dedicated FBR-E strategy harvesting playoff-cycle drift, seasonal valuation peaks, and team performance momentum.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J.P. MORGAN HEDGE DESK &amp; QUANT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Georgia"/>
              </a:defRPr>
            </a:pPr>
            <a:r>
              <a:t>5-Role Quant Pod Enforces 6-Stage Workflow with Rigorous Econometric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Interest Developer.jpm — BLEI-E Risk Management Framework  |  Slide 7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QUANT POD GOVERNANCE &amp; ROLES</a:t>
            </a:r>
          </a:p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• PM (Portfolio Manager)   • QR (Quant Researcher)   • DE (Data Engineer)   • CRO (Chief Risk Officer)   • Compliance Officer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8655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6-STAGE EXECUTION WORKFLOW PIPELINE</a:t>
            </a:r>
          </a:p>
          <a:p>
            <a:pPr>
              <a:spcAft>
                <a:spcPts val="600"/>
              </a:spcAft>
              <a:defRPr sz="1100" b="1">
                <a:solidFill>
                  <a:srgbClr val="334155"/>
                </a:solidFill>
                <a:latin typeface="Arial"/>
              </a:defRPr>
            </a:pPr>
            <a:r>
              <a:t>1. Factor Ingestion ➔ 2. CRS Scoring ➔ 3. Overlay Generation ➔ 4. PM/CRO Approval ➔ 5. Sandbox/Live Execution ➔ 6. Audit Logging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Requires formal risk review, tail behavior analysis, and capacity sign-off before paper trading promotion.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MANDATORY ECONOMETRIC VALIDATION STANDARDS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All candidate strategies undergo rigorous quantitative verification prior to Hedge Desk live deployment:</a:t>
            </a:r>
          </a:p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• Gibbons-Ross-Shanken (GRS) Tests   • Fama-MacBeth Regressions   • Newey-West HAC Robust Errors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